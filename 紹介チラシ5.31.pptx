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B8"/>
    <a:srgbClr val="FFE7CD"/>
    <a:srgbClr val="F6DFBC"/>
    <a:srgbClr val="FFA219"/>
    <a:srgbClr val="FFCE85"/>
    <a:srgbClr val="FF9900"/>
    <a:srgbClr val="FFDFAF"/>
    <a:srgbClr val="FFBD5D"/>
    <a:srgbClr val="FFECB8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2" d="100"/>
          <a:sy n="52" d="100"/>
        </p:scale>
        <p:origin x="26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86" indent="0" algn="ctr">
              <a:buNone/>
              <a:defRPr sz="1500"/>
            </a:lvl2pPr>
            <a:lvl3pPr marL="685772" indent="0" algn="ctr">
              <a:buNone/>
              <a:defRPr sz="1350"/>
            </a:lvl3pPr>
            <a:lvl4pPr marL="1028657" indent="0" algn="ctr">
              <a:buNone/>
              <a:defRPr sz="1200"/>
            </a:lvl4pPr>
            <a:lvl5pPr marL="1371543" indent="0" algn="ctr">
              <a:buNone/>
              <a:defRPr sz="1200"/>
            </a:lvl5pPr>
            <a:lvl6pPr marL="1714428" indent="0" algn="ctr">
              <a:buNone/>
              <a:defRPr sz="1200"/>
            </a:lvl6pPr>
            <a:lvl7pPr marL="2057314" indent="0" algn="ctr">
              <a:buNone/>
              <a:defRPr sz="1200"/>
            </a:lvl7pPr>
            <a:lvl8pPr marL="2400199" indent="0" algn="ctr">
              <a:buNone/>
              <a:defRPr sz="1200"/>
            </a:lvl8pPr>
            <a:lvl9pPr marL="2743085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21357-FBA7-4D34-95CF-068936055A8F}" type="datetimeFigureOut">
              <a:rPr kumimoji="1" lang="ja-JP" altLang="en-US" smtClean="0"/>
              <a:t>2025/4/28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DFE68-82EA-4894-A098-1E10CEB2CD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333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21357-FBA7-4D34-95CF-068936055A8F}" type="datetimeFigureOut">
              <a:rPr kumimoji="1" lang="ja-JP" altLang="en-US" smtClean="0"/>
              <a:t>2025/4/28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DFE68-82EA-4894-A098-1E10CEB2CD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6052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8" y="2469625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8" y="6629229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88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72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4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2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1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19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08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21357-FBA7-4D34-95CF-068936055A8F}" type="datetimeFigureOut">
              <a:rPr kumimoji="1" lang="ja-JP" altLang="en-US" smtClean="0"/>
              <a:t>2025/4/28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DFE68-82EA-4894-A098-1E10CEB2CD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4528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21357-FBA7-4D34-95CF-068936055A8F}" type="datetimeFigureOut">
              <a:rPr kumimoji="1" lang="ja-JP" altLang="en-US" smtClean="0"/>
              <a:t>2025/4/28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DFE68-82EA-4894-A098-1E10CEB2CD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5829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3" y="527406"/>
            <a:ext cx="5915025" cy="191470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2" y="2428348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6" indent="0">
              <a:buNone/>
              <a:defRPr sz="1500" b="1"/>
            </a:lvl2pPr>
            <a:lvl3pPr marL="685772" indent="0">
              <a:buNone/>
              <a:defRPr sz="1350" b="1"/>
            </a:lvl3pPr>
            <a:lvl4pPr marL="1028657" indent="0">
              <a:buNone/>
              <a:defRPr sz="1200" b="1"/>
            </a:lvl4pPr>
            <a:lvl5pPr marL="1371543" indent="0">
              <a:buNone/>
              <a:defRPr sz="1200" b="1"/>
            </a:lvl5pPr>
            <a:lvl6pPr marL="1714428" indent="0">
              <a:buNone/>
              <a:defRPr sz="1200" b="1"/>
            </a:lvl6pPr>
            <a:lvl7pPr marL="2057314" indent="0">
              <a:buNone/>
              <a:defRPr sz="1200" b="1"/>
            </a:lvl7pPr>
            <a:lvl8pPr marL="2400199" indent="0">
              <a:buNone/>
              <a:defRPr sz="1200" b="1"/>
            </a:lvl8pPr>
            <a:lvl9pPr marL="2743085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2" y="3618443"/>
            <a:ext cx="2901255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4" y="2428348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6" indent="0">
              <a:buNone/>
              <a:defRPr sz="1500" b="1"/>
            </a:lvl2pPr>
            <a:lvl3pPr marL="685772" indent="0">
              <a:buNone/>
              <a:defRPr sz="1350" b="1"/>
            </a:lvl3pPr>
            <a:lvl4pPr marL="1028657" indent="0">
              <a:buNone/>
              <a:defRPr sz="1200" b="1"/>
            </a:lvl4pPr>
            <a:lvl5pPr marL="1371543" indent="0">
              <a:buNone/>
              <a:defRPr sz="1200" b="1"/>
            </a:lvl5pPr>
            <a:lvl6pPr marL="1714428" indent="0">
              <a:buNone/>
              <a:defRPr sz="1200" b="1"/>
            </a:lvl6pPr>
            <a:lvl7pPr marL="2057314" indent="0">
              <a:buNone/>
              <a:defRPr sz="1200" b="1"/>
            </a:lvl7pPr>
            <a:lvl8pPr marL="2400199" indent="0">
              <a:buNone/>
              <a:defRPr sz="1200" b="1"/>
            </a:lvl8pPr>
            <a:lvl9pPr marL="2743085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4" y="3618443"/>
            <a:ext cx="2915543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21357-FBA7-4D34-95CF-068936055A8F}" type="datetimeFigureOut">
              <a:rPr kumimoji="1" lang="ja-JP" altLang="en-US" smtClean="0"/>
              <a:t>2025/4/28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DFE68-82EA-4894-A098-1E10CEB2CD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026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21357-FBA7-4D34-95CF-068936055A8F}" type="datetimeFigureOut">
              <a:rPr kumimoji="1" lang="ja-JP" altLang="en-US" smtClean="0"/>
              <a:t>2025/4/28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DFE68-82EA-4894-A098-1E10CEB2CD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4365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21357-FBA7-4D34-95CF-068936055A8F}" type="datetimeFigureOut">
              <a:rPr kumimoji="1" lang="ja-JP" altLang="en-US" smtClean="0"/>
              <a:t>2025/4/28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DFE68-82EA-4894-A098-1E10CEB2CD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8454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5" y="1426285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886" indent="0">
              <a:buNone/>
              <a:defRPr sz="1050"/>
            </a:lvl2pPr>
            <a:lvl3pPr marL="685772" indent="0">
              <a:buNone/>
              <a:defRPr sz="900"/>
            </a:lvl3pPr>
            <a:lvl4pPr marL="1028657" indent="0">
              <a:buNone/>
              <a:defRPr sz="750"/>
            </a:lvl4pPr>
            <a:lvl5pPr marL="1371543" indent="0">
              <a:buNone/>
              <a:defRPr sz="750"/>
            </a:lvl5pPr>
            <a:lvl6pPr marL="1714428" indent="0">
              <a:buNone/>
              <a:defRPr sz="750"/>
            </a:lvl6pPr>
            <a:lvl7pPr marL="2057314" indent="0">
              <a:buNone/>
              <a:defRPr sz="750"/>
            </a:lvl7pPr>
            <a:lvl8pPr marL="2400199" indent="0">
              <a:buNone/>
              <a:defRPr sz="750"/>
            </a:lvl8pPr>
            <a:lvl9pPr marL="2743085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21357-FBA7-4D34-95CF-068936055A8F}" type="datetimeFigureOut">
              <a:rPr kumimoji="1" lang="ja-JP" altLang="en-US" smtClean="0"/>
              <a:t>2025/4/28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DFE68-82EA-4894-A098-1E10CEB2CD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0535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5" y="1426285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886" indent="0">
              <a:buNone/>
              <a:defRPr sz="2100"/>
            </a:lvl2pPr>
            <a:lvl3pPr marL="685772" indent="0">
              <a:buNone/>
              <a:defRPr sz="1800"/>
            </a:lvl3pPr>
            <a:lvl4pPr marL="1028657" indent="0">
              <a:buNone/>
              <a:defRPr sz="1500"/>
            </a:lvl4pPr>
            <a:lvl5pPr marL="1371543" indent="0">
              <a:buNone/>
              <a:defRPr sz="1500"/>
            </a:lvl5pPr>
            <a:lvl6pPr marL="1714428" indent="0">
              <a:buNone/>
              <a:defRPr sz="1500"/>
            </a:lvl6pPr>
            <a:lvl7pPr marL="2057314" indent="0">
              <a:buNone/>
              <a:defRPr sz="1500"/>
            </a:lvl7pPr>
            <a:lvl8pPr marL="2400199" indent="0">
              <a:buNone/>
              <a:defRPr sz="1500"/>
            </a:lvl8pPr>
            <a:lvl9pPr marL="2743085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886" indent="0">
              <a:buNone/>
              <a:defRPr sz="1050"/>
            </a:lvl2pPr>
            <a:lvl3pPr marL="685772" indent="0">
              <a:buNone/>
              <a:defRPr sz="900"/>
            </a:lvl3pPr>
            <a:lvl4pPr marL="1028657" indent="0">
              <a:buNone/>
              <a:defRPr sz="750"/>
            </a:lvl4pPr>
            <a:lvl5pPr marL="1371543" indent="0">
              <a:buNone/>
              <a:defRPr sz="750"/>
            </a:lvl5pPr>
            <a:lvl6pPr marL="1714428" indent="0">
              <a:buNone/>
              <a:defRPr sz="750"/>
            </a:lvl6pPr>
            <a:lvl7pPr marL="2057314" indent="0">
              <a:buNone/>
              <a:defRPr sz="750"/>
            </a:lvl7pPr>
            <a:lvl8pPr marL="2400199" indent="0">
              <a:buNone/>
              <a:defRPr sz="750"/>
            </a:lvl8pPr>
            <a:lvl9pPr marL="2743085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21357-FBA7-4D34-95CF-068936055A8F}" type="datetimeFigureOut">
              <a:rPr kumimoji="1" lang="ja-JP" altLang="en-US" smtClean="0"/>
              <a:t>2025/4/28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DFE68-82EA-4894-A098-1E10CEB2CD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4147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21357-FBA7-4D34-95CF-068936055A8F}" type="datetimeFigureOut">
              <a:rPr kumimoji="1" lang="ja-JP" altLang="en-US" smtClean="0"/>
              <a:t>2025/4/28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DFE68-82EA-4894-A098-1E10CEB2CD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9698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21357-FBA7-4D34-95CF-068936055A8F}" type="datetimeFigureOut">
              <a:rPr kumimoji="1" lang="ja-JP" altLang="en-US" smtClean="0"/>
              <a:t>2025/4/28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DFE68-82EA-4894-A098-1E10CEB2CD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3027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90" y="527406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90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9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B21357-FBA7-4D34-95CF-068936055A8F}" type="datetimeFigureOut">
              <a:rPr kumimoji="1" lang="ja-JP" altLang="en-US" smtClean="0"/>
              <a:t>2025/4/28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5" y="9181399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9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5DFE68-82EA-4894-A098-1E10CEB2CD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5948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772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3" indent="-171443" algn="l" defTabSz="685772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28" indent="-171443" algn="l" defTabSz="685772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14" indent="-171443" algn="l" defTabSz="685772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00" indent="-171443" algn="l" defTabSz="685772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85" indent="-171443" algn="l" defTabSz="685772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71" indent="-171443" algn="l" defTabSz="685772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57" indent="-171443" algn="l" defTabSz="685772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43" indent="-171443" algn="l" defTabSz="685772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28" indent="-171443" algn="l" defTabSz="685772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2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2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2" algn="l" defTabSz="685772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57" algn="l" defTabSz="685772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43" algn="l" defTabSz="685772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28" algn="l" defTabSz="685772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14" algn="l" defTabSz="685772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99" algn="l" defTabSz="685772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85" algn="l" defTabSz="685772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F3D45A03-AB20-BB9C-3DA2-B5D3174C0288}"/>
              </a:ext>
            </a:extLst>
          </p:cNvPr>
          <p:cNvSpPr/>
          <p:nvPr/>
        </p:nvSpPr>
        <p:spPr>
          <a:xfrm>
            <a:off x="5617" y="9403080"/>
            <a:ext cx="6858000" cy="502920"/>
          </a:xfrm>
          <a:prstGeom prst="rect">
            <a:avLst/>
          </a:prstGeom>
          <a:solidFill>
            <a:srgbClr val="FFDFA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86D32174-E816-1989-7FDC-D02BC9760C58}"/>
              </a:ext>
            </a:extLst>
          </p:cNvPr>
          <p:cNvSpPr/>
          <p:nvPr/>
        </p:nvSpPr>
        <p:spPr>
          <a:xfrm>
            <a:off x="0" y="0"/>
            <a:ext cx="6858000" cy="502920"/>
          </a:xfrm>
          <a:prstGeom prst="rect">
            <a:avLst/>
          </a:prstGeom>
          <a:solidFill>
            <a:srgbClr val="FFDFA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FA16A159-88EC-BF38-083F-BFD2B67C5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661" y="1974067"/>
            <a:ext cx="6290672" cy="1091529"/>
          </a:xfrm>
        </p:spPr>
        <p:txBody>
          <a:bodyPr>
            <a:noAutofit/>
          </a:bodyPr>
          <a:lstStyle/>
          <a:p>
            <a:pPr algn="l"/>
            <a:r>
              <a:rPr lang="ja-JP" altLang="en-US" sz="4000" kern="0" spc="500" dirty="0">
                <a:solidFill>
                  <a:schemeClr val="accent2">
                    <a:lumMod val="75000"/>
                  </a:schemeClr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  <a:cs typeface="Sans Serif Collection" panose="020B0502040504020204" pitchFamily="34" charset="0"/>
              </a:rPr>
              <a:t>「アイ工務店」を</a:t>
            </a:r>
            <a:br>
              <a:rPr lang="en-US" altLang="ja-JP" sz="4000" kern="0" spc="500" dirty="0">
                <a:solidFill>
                  <a:schemeClr val="accent2">
                    <a:lumMod val="75000"/>
                  </a:schemeClr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  <a:cs typeface="Sans Serif Collection" panose="020B0502040504020204" pitchFamily="34" charset="0"/>
              </a:rPr>
            </a:br>
            <a:r>
              <a:rPr lang="ja-JP" altLang="en-US" sz="4000" kern="0" spc="500" dirty="0">
                <a:solidFill>
                  <a:schemeClr val="accent2">
                    <a:lumMod val="75000"/>
                  </a:schemeClr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  <a:cs typeface="Sans Serif Collection" panose="020B0502040504020204" pitchFamily="34" charset="0"/>
              </a:rPr>
              <a:t>　　　　ご紹介ください！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16F2F64-6F6D-825D-E801-B5C2B225B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7531" y="7711062"/>
            <a:ext cx="5662140" cy="1595496"/>
          </a:xfrm>
          <a:ln w="19050">
            <a:solidFill>
              <a:schemeClr val="accent2">
                <a:lumMod val="75000"/>
              </a:schemeClr>
            </a:solidFill>
            <a:prstDash val="dash"/>
          </a:ln>
        </p:spPr>
        <p:txBody>
          <a:bodyPr>
            <a:normAutofit fontScale="92500" lnSpcReduction="10000"/>
          </a:bodyPr>
          <a:lstStyle/>
          <a:p>
            <a:pPr algn="l" fontAlgn="base"/>
            <a:r>
              <a:rPr lang="ja-JP" altLang="en-US" sz="1400" b="0" i="0" dirty="0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株式会社　アイ工務店</a:t>
            </a:r>
          </a:p>
          <a:p>
            <a:pPr algn="l" fontAlgn="base"/>
            <a:r>
              <a:rPr lang="ja-JP" altLang="en-US" sz="1400" b="0" i="0" dirty="0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〒</a:t>
            </a:r>
            <a:r>
              <a:rPr lang="en-US" altLang="ja-JP" sz="1400" dirty="0">
                <a:solidFill>
                  <a:srgbClr val="000000"/>
                </a:solidFill>
                <a:highlight>
                  <a:srgbClr val="FFFF00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lang="ja-JP" altLang="en-US" sz="1400" dirty="0">
                <a:solidFill>
                  <a:srgbClr val="000000"/>
                </a:solidFill>
                <a:highlight>
                  <a:srgbClr val="FFFF00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郵便番号入力</a:t>
            </a:r>
            <a:r>
              <a:rPr lang="en-US" altLang="ja-JP" sz="1400" dirty="0">
                <a:solidFill>
                  <a:srgbClr val="000000"/>
                </a:solidFill>
                <a:highlight>
                  <a:srgbClr val="FFFF00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】</a:t>
            </a:r>
            <a:endParaRPr lang="en-US" altLang="ja-JP" sz="1400" b="0" i="0" dirty="0">
              <a:solidFill>
                <a:srgbClr val="000000"/>
              </a:solidFill>
              <a:effectLst/>
              <a:highlight>
                <a:srgbClr val="FFFF00"/>
              </a:highlight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 fontAlgn="base"/>
            <a:r>
              <a:rPr lang="ja-JP" altLang="en-US" sz="1400" b="0" i="0" dirty="0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r>
              <a:rPr lang="en-US" altLang="ja-JP" sz="1400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lang="ja-JP" altLang="en-US" sz="1400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各駐在場所住所入力</a:t>
            </a:r>
            <a:r>
              <a:rPr lang="en-US" altLang="ja-JP" sz="1400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】</a:t>
            </a:r>
          </a:p>
          <a:p>
            <a:pPr algn="l" fontAlgn="base"/>
            <a:r>
              <a:rPr lang="ja-JP" altLang="en-US" sz="1400" b="0" i="0" dirty="0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r>
              <a:rPr lang="en-US" altLang="ja-JP" sz="1400" b="0" i="0" dirty="0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E-MAIL</a:t>
            </a:r>
            <a:r>
              <a:rPr lang="ja-JP" altLang="en-US" sz="1400" b="0" i="0" dirty="0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：</a:t>
            </a:r>
            <a:r>
              <a:rPr lang="en-US" altLang="ja-JP" sz="1400" dirty="0">
                <a:solidFill>
                  <a:srgbClr val="000000"/>
                </a:solidFill>
                <a:highlight>
                  <a:srgbClr val="FFFF00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lang="ja-JP" altLang="en-US" sz="1400" dirty="0">
                <a:solidFill>
                  <a:srgbClr val="000000"/>
                </a:solidFill>
                <a:highlight>
                  <a:srgbClr val="FFFF00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各自メールアドレス入力</a:t>
            </a:r>
            <a:r>
              <a:rPr lang="en-US" altLang="ja-JP" sz="1400" dirty="0">
                <a:solidFill>
                  <a:srgbClr val="000000"/>
                </a:solidFill>
                <a:highlight>
                  <a:srgbClr val="FFFF00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】</a:t>
            </a:r>
          </a:p>
          <a:p>
            <a:pPr algn="l" fontAlgn="base"/>
            <a:r>
              <a:rPr lang="ja-JP" altLang="en-US" sz="1400" b="0" i="0" dirty="0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r>
              <a:rPr lang="en-US" altLang="ja-JP" sz="1400" b="0" i="0" dirty="0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TEL</a:t>
            </a:r>
            <a:r>
              <a:rPr lang="ja-JP" altLang="en-US" sz="1400" b="0" i="0" dirty="0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：</a:t>
            </a:r>
            <a:r>
              <a:rPr lang="en-US" altLang="ja-JP" sz="1400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lang="ja-JP" altLang="en-US" sz="1400" dirty="0">
                <a:solidFill>
                  <a:srgbClr val="000000"/>
                </a:solidFill>
                <a:highlight>
                  <a:srgbClr val="FFFF00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各自電話番号入力</a:t>
            </a:r>
            <a:r>
              <a:rPr lang="en-US" altLang="ja-JP" sz="1400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】</a:t>
            </a:r>
          </a:p>
          <a:p>
            <a:pPr algn="l" fontAlgn="base"/>
            <a:r>
              <a:rPr lang="ja-JP" altLang="en-US" sz="1400" b="0" i="0" dirty="0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r>
              <a:rPr lang="ja-JP" altLang="en-US" sz="1400" dirty="0">
                <a:solidFill>
                  <a:srgbClr val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アフター担当者：</a:t>
            </a:r>
            <a:r>
              <a:rPr lang="en-US" altLang="ja-JP" sz="1400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lang="ja-JP" altLang="en-US" sz="1400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担当者名入力</a:t>
            </a:r>
            <a:r>
              <a:rPr lang="en-US" altLang="ja-JP" sz="1400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】</a:t>
            </a:r>
            <a:endParaRPr lang="ja-JP" altLang="en-US" sz="1400" b="0" i="0" dirty="0">
              <a:solidFill>
                <a:srgbClr val="000000"/>
              </a:solidFill>
              <a:effectLst/>
              <a:highlight>
                <a:srgbClr val="FFFF00"/>
              </a:highlight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/>
            <a:endParaRPr kumimoji="1" lang="ja-JP" altLang="en-US" sz="1400" dirty="0"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</p:txBody>
      </p:sp>
      <p:sp>
        <p:nvSpPr>
          <p:cNvPr id="10" name="タイトル 1">
            <a:extLst>
              <a:ext uri="{FF2B5EF4-FFF2-40B4-BE49-F238E27FC236}">
                <a16:creationId xmlns:a16="http://schemas.microsoft.com/office/drawing/2014/main" id="{12C0B603-3136-B5D0-B0C0-BB18D5063A11}"/>
              </a:ext>
            </a:extLst>
          </p:cNvPr>
          <p:cNvSpPr txBox="1">
            <a:spLocks/>
          </p:cNvSpPr>
          <p:nvPr/>
        </p:nvSpPr>
        <p:spPr>
          <a:xfrm>
            <a:off x="1398270" y="787736"/>
            <a:ext cx="1390650" cy="5029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800" dirty="0">
                <a:solidFill>
                  <a:schemeClr val="accent2">
                    <a:lumMod val="75000"/>
                  </a:schemeClr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  <a:cs typeface="Sans Serif Collection" panose="020B0502040504020204" pitchFamily="34" charset="0"/>
              </a:rPr>
              <a:t>ご友人</a:t>
            </a:r>
          </a:p>
        </p:txBody>
      </p:sp>
      <p:sp>
        <p:nvSpPr>
          <p:cNvPr id="11" name="タイトル 1">
            <a:extLst>
              <a:ext uri="{FF2B5EF4-FFF2-40B4-BE49-F238E27FC236}">
                <a16:creationId xmlns:a16="http://schemas.microsoft.com/office/drawing/2014/main" id="{06C6C401-BB97-159E-3C04-55021D453534}"/>
              </a:ext>
            </a:extLst>
          </p:cNvPr>
          <p:cNvSpPr txBox="1">
            <a:spLocks/>
          </p:cNvSpPr>
          <p:nvPr/>
        </p:nvSpPr>
        <p:spPr>
          <a:xfrm>
            <a:off x="3769997" y="787736"/>
            <a:ext cx="1390650" cy="5029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800" dirty="0">
                <a:solidFill>
                  <a:schemeClr val="accent2">
                    <a:lumMod val="75000"/>
                  </a:schemeClr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  <a:cs typeface="Sans Serif Collection" panose="020B0502040504020204" pitchFamily="34" charset="0"/>
              </a:rPr>
              <a:t>ご家族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03373E1C-FB73-D189-54BD-F6B3BA90D549}"/>
              </a:ext>
            </a:extLst>
          </p:cNvPr>
          <p:cNvSpPr/>
          <p:nvPr/>
        </p:nvSpPr>
        <p:spPr>
          <a:xfrm rot="5400000">
            <a:off x="-4722192" y="4701540"/>
            <a:ext cx="9906000" cy="502920"/>
          </a:xfrm>
          <a:prstGeom prst="rect">
            <a:avLst/>
          </a:prstGeom>
          <a:solidFill>
            <a:srgbClr val="FFDFA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9D08D268-45E6-8AD4-6476-3F5BADE40769}"/>
              </a:ext>
            </a:extLst>
          </p:cNvPr>
          <p:cNvSpPr/>
          <p:nvPr/>
        </p:nvSpPr>
        <p:spPr>
          <a:xfrm rot="5400000">
            <a:off x="1674192" y="4701540"/>
            <a:ext cx="9906000" cy="502920"/>
          </a:xfrm>
          <a:prstGeom prst="rect">
            <a:avLst/>
          </a:prstGeom>
          <a:solidFill>
            <a:srgbClr val="FFDFA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吹き出し: 四角形 27">
            <a:extLst>
              <a:ext uri="{FF2B5EF4-FFF2-40B4-BE49-F238E27FC236}">
                <a16:creationId xmlns:a16="http://schemas.microsoft.com/office/drawing/2014/main" id="{778AF170-E21E-8F2E-9C60-BD96888035C1}"/>
              </a:ext>
            </a:extLst>
          </p:cNvPr>
          <p:cNvSpPr/>
          <p:nvPr/>
        </p:nvSpPr>
        <p:spPr>
          <a:xfrm>
            <a:off x="1308835" y="689110"/>
            <a:ext cx="1569520" cy="744892"/>
          </a:xfrm>
          <a:prstGeom prst="wedgeRectCallout">
            <a:avLst>
              <a:gd name="adj1" fmla="val -5574"/>
              <a:gd name="adj2" fmla="val 76544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吹き出し: 四角形 28">
            <a:extLst>
              <a:ext uri="{FF2B5EF4-FFF2-40B4-BE49-F238E27FC236}">
                <a16:creationId xmlns:a16="http://schemas.microsoft.com/office/drawing/2014/main" id="{15F92D0B-1F0B-B52D-060F-74F853A486BB}"/>
              </a:ext>
            </a:extLst>
          </p:cNvPr>
          <p:cNvSpPr/>
          <p:nvPr/>
        </p:nvSpPr>
        <p:spPr>
          <a:xfrm>
            <a:off x="3680562" y="706534"/>
            <a:ext cx="1569520" cy="744892"/>
          </a:xfrm>
          <a:prstGeom prst="wedgeRectCallout">
            <a:avLst>
              <a:gd name="adj1" fmla="val 3625"/>
              <a:gd name="adj2" fmla="val 76544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7F80022C-5EBE-DDEC-91FA-A71DC2A7F484}"/>
              </a:ext>
            </a:extLst>
          </p:cNvPr>
          <p:cNvSpPr/>
          <p:nvPr/>
        </p:nvSpPr>
        <p:spPr>
          <a:xfrm>
            <a:off x="1420127" y="566749"/>
            <a:ext cx="187792" cy="2541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A08770AF-FA26-4634-7723-7B720C20BEE7}"/>
              </a:ext>
            </a:extLst>
          </p:cNvPr>
          <p:cNvSpPr/>
          <p:nvPr/>
        </p:nvSpPr>
        <p:spPr>
          <a:xfrm>
            <a:off x="4927027" y="558866"/>
            <a:ext cx="187792" cy="2541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C974B3FD-0151-1C21-B30A-8AD11FC26FD5}"/>
              </a:ext>
            </a:extLst>
          </p:cNvPr>
          <p:cNvSpPr/>
          <p:nvPr/>
        </p:nvSpPr>
        <p:spPr>
          <a:xfrm>
            <a:off x="2093595" y="1280096"/>
            <a:ext cx="152300" cy="2762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8FE63AC2-6C1C-214F-38E6-0B92A83CDECE}"/>
              </a:ext>
            </a:extLst>
          </p:cNvPr>
          <p:cNvSpPr/>
          <p:nvPr/>
        </p:nvSpPr>
        <p:spPr>
          <a:xfrm>
            <a:off x="4296527" y="1335375"/>
            <a:ext cx="152300" cy="2762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タイトル 1">
            <a:extLst>
              <a:ext uri="{FF2B5EF4-FFF2-40B4-BE49-F238E27FC236}">
                <a16:creationId xmlns:a16="http://schemas.microsoft.com/office/drawing/2014/main" id="{A4885BB1-D575-F951-70C0-A94A73A397DD}"/>
              </a:ext>
            </a:extLst>
          </p:cNvPr>
          <p:cNvSpPr txBox="1">
            <a:spLocks/>
          </p:cNvSpPr>
          <p:nvPr/>
        </p:nvSpPr>
        <p:spPr>
          <a:xfrm>
            <a:off x="534754" y="7357764"/>
            <a:ext cx="2894246" cy="33307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68577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ja-JP" altLang="en-US" sz="1600" kern="0" dirty="0">
                <a:solidFill>
                  <a:schemeClr val="accent2">
                    <a:lumMod val="75000"/>
                  </a:schemeClr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  <a:cs typeface="Sans Serif Collection" panose="020B0502040504020204" pitchFamily="34" charset="0"/>
              </a:rPr>
              <a:t>▼お気軽にお問い合わせください</a:t>
            </a:r>
          </a:p>
        </p:txBody>
      </p:sp>
      <p:sp>
        <p:nvSpPr>
          <p:cNvPr id="47" name="フローチャート: 結合子 46">
            <a:extLst>
              <a:ext uri="{FF2B5EF4-FFF2-40B4-BE49-F238E27FC236}">
                <a16:creationId xmlns:a16="http://schemas.microsoft.com/office/drawing/2014/main" id="{E984A2D1-1C2A-5CC8-B69C-B220F21F356C}"/>
              </a:ext>
            </a:extLst>
          </p:cNvPr>
          <p:cNvSpPr/>
          <p:nvPr/>
        </p:nvSpPr>
        <p:spPr>
          <a:xfrm>
            <a:off x="578329" y="4045174"/>
            <a:ext cx="5701342" cy="2233458"/>
          </a:xfrm>
          <a:prstGeom prst="flowChartConnector">
            <a:avLst/>
          </a:prstGeom>
          <a:gradFill flip="none" rotWithShape="1">
            <a:gsLst>
              <a:gs pos="0">
                <a:srgbClr val="FFA219">
                  <a:tint val="66000"/>
                  <a:satMod val="160000"/>
                </a:srgbClr>
              </a:gs>
              <a:gs pos="50000">
                <a:srgbClr val="FFA219">
                  <a:tint val="44500"/>
                  <a:satMod val="160000"/>
                </a:srgbClr>
              </a:gs>
              <a:gs pos="100000">
                <a:srgbClr val="FFA219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9" name="図 48">
            <a:extLst>
              <a:ext uri="{FF2B5EF4-FFF2-40B4-BE49-F238E27FC236}">
                <a16:creationId xmlns:a16="http://schemas.microsoft.com/office/drawing/2014/main" id="{D560B1B0-21F5-0C1D-02EE-3955D2A47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198" y="5703732"/>
            <a:ext cx="2080897" cy="1881600"/>
          </a:xfrm>
          <a:prstGeom prst="rect">
            <a:avLst/>
          </a:prstGeom>
        </p:spPr>
      </p:pic>
      <p:sp>
        <p:nvSpPr>
          <p:cNvPr id="9" name="タイトル 1">
            <a:extLst>
              <a:ext uri="{FF2B5EF4-FFF2-40B4-BE49-F238E27FC236}">
                <a16:creationId xmlns:a16="http://schemas.microsoft.com/office/drawing/2014/main" id="{26081A13-0C26-782B-9351-93A2BAE8CB14}"/>
              </a:ext>
            </a:extLst>
          </p:cNvPr>
          <p:cNvSpPr txBox="1">
            <a:spLocks/>
          </p:cNvSpPr>
          <p:nvPr/>
        </p:nvSpPr>
        <p:spPr>
          <a:xfrm>
            <a:off x="281885" y="3408069"/>
            <a:ext cx="6508254" cy="324798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ja-JP" altLang="en-US" sz="1800" kern="0" spc="300" dirty="0">
                <a:latin typeface="HGPｺﾞｼｯｸE" panose="020B0900000000000000" pitchFamily="50" charset="-128"/>
                <a:ea typeface="HGPｺﾞｼｯｸE" panose="020B0900000000000000" pitchFamily="50" charset="-128"/>
                <a:cs typeface="Sans Serif Collection" panose="020B0502040504020204" pitchFamily="34" charset="0"/>
              </a:rPr>
              <a:t>アイ工務店は皆さまからのご紹介を大切にしています。</a:t>
            </a:r>
          </a:p>
        </p:txBody>
      </p:sp>
      <p:sp>
        <p:nvSpPr>
          <p:cNvPr id="50" name="タイトル 1">
            <a:extLst>
              <a:ext uri="{FF2B5EF4-FFF2-40B4-BE49-F238E27FC236}">
                <a16:creationId xmlns:a16="http://schemas.microsoft.com/office/drawing/2014/main" id="{2D9153C6-1149-C96E-77C0-079E7D678778}"/>
              </a:ext>
            </a:extLst>
          </p:cNvPr>
          <p:cNvSpPr txBox="1">
            <a:spLocks/>
          </p:cNvSpPr>
          <p:nvPr/>
        </p:nvSpPr>
        <p:spPr>
          <a:xfrm>
            <a:off x="-35636" y="4326717"/>
            <a:ext cx="7143297" cy="128293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800" kern="0" spc="300" dirty="0">
                <a:latin typeface="HGPｺﾞｼｯｸE" panose="020B0900000000000000" pitchFamily="50" charset="-128"/>
                <a:ea typeface="HGPｺﾞｼｯｸE" panose="020B0900000000000000" pitchFamily="50" charset="-128"/>
                <a:cs typeface="Sans Serif Collection" panose="020B0502040504020204" pitchFamily="34" charset="0"/>
              </a:rPr>
              <a:t>お知り合いの中に、</a:t>
            </a:r>
            <a:endParaRPr lang="en-US" altLang="ja-JP" sz="1800" kern="0" spc="300" dirty="0">
              <a:latin typeface="HGPｺﾞｼｯｸE" panose="020B0900000000000000" pitchFamily="50" charset="-128"/>
              <a:ea typeface="HGPｺﾞｼｯｸE" panose="020B0900000000000000" pitchFamily="50" charset="-128"/>
              <a:cs typeface="Sans Serif Collection" panose="020B0502040504020204" pitchFamily="34" charset="0"/>
            </a:endParaRPr>
          </a:p>
          <a:p>
            <a:r>
              <a:rPr lang="ja-JP" altLang="en-US" sz="1800" kern="0" spc="300" dirty="0">
                <a:latin typeface="HGPｺﾞｼｯｸE" panose="020B0900000000000000" pitchFamily="50" charset="-128"/>
                <a:ea typeface="HGPｺﾞｼｯｸE" panose="020B0900000000000000" pitchFamily="50" charset="-128"/>
                <a:cs typeface="Sans Serif Collection" panose="020B0502040504020204" pitchFamily="34" charset="0"/>
              </a:rPr>
              <a:t>新しいお住まいをご検討中の方は</a:t>
            </a:r>
            <a:endParaRPr lang="en-US" altLang="ja-JP" sz="1800" kern="0" spc="300" dirty="0">
              <a:latin typeface="HGPｺﾞｼｯｸE" panose="020B0900000000000000" pitchFamily="50" charset="-128"/>
              <a:ea typeface="HGPｺﾞｼｯｸE" panose="020B0900000000000000" pitchFamily="50" charset="-128"/>
              <a:cs typeface="Sans Serif Collection" panose="020B0502040504020204" pitchFamily="34" charset="0"/>
            </a:endParaRPr>
          </a:p>
          <a:p>
            <a:r>
              <a:rPr lang="ja-JP" altLang="en-US" sz="1800" kern="0" spc="300" dirty="0">
                <a:latin typeface="HGPｺﾞｼｯｸE" panose="020B0900000000000000" pitchFamily="50" charset="-128"/>
                <a:ea typeface="HGPｺﾞｼｯｸE" panose="020B0900000000000000" pitchFamily="50" charset="-128"/>
                <a:cs typeface="Sans Serif Collection" panose="020B0502040504020204" pitchFamily="34" charset="0"/>
              </a:rPr>
              <a:t>いらっしゃいませんか？</a:t>
            </a:r>
            <a:endParaRPr lang="en-US" altLang="ja-JP" sz="1800" kern="0" spc="300" dirty="0">
              <a:latin typeface="HGPｺﾞｼｯｸE" panose="020B0900000000000000" pitchFamily="50" charset="-128"/>
              <a:ea typeface="HGPｺﾞｼｯｸE" panose="020B0900000000000000" pitchFamily="50" charset="-128"/>
              <a:cs typeface="Sans Serif Collection" panose="020B0502040504020204" pitchFamily="34" charset="0"/>
            </a:endParaRPr>
          </a:p>
          <a:p>
            <a:r>
              <a:rPr lang="ja-JP" altLang="en-US" sz="1800" kern="0" spc="300" dirty="0">
                <a:latin typeface="HGPｺﾞｼｯｸE" panose="020B0900000000000000" pitchFamily="50" charset="-128"/>
                <a:ea typeface="HGPｺﾞｼｯｸE" panose="020B0900000000000000" pitchFamily="50" charset="-128"/>
                <a:cs typeface="Sans Serif Collection" panose="020B0502040504020204" pitchFamily="34" charset="0"/>
              </a:rPr>
              <a:t>私たちが責任をもってご友人、お知り合いの</a:t>
            </a:r>
            <a:endParaRPr lang="en-US" altLang="ja-JP" sz="1800" kern="0" spc="300" dirty="0">
              <a:latin typeface="HGPｺﾞｼｯｸE" panose="020B0900000000000000" pitchFamily="50" charset="-128"/>
              <a:ea typeface="HGPｺﾞｼｯｸE" panose="020B0900000000000000" pitchFamily="50" charset="-128"/>
              <a:cs typeface="Sans Serif Collection" panose="020B0502040504020204" pitchFamily="34" charset="0"/>
            </a:endParaRPr>
          </a:p>
          <a:p>
            <a:r>
              <a:rPr lang="ja-JP" altLang="en-US" sz="1800" kern="0" spc="300" dirty="0">
                <a:latin typeface="HGPｺﾞｼｯｸE" panose="020B0900000000000000" pitchFamily="50" charset="-128"/>
                <a:ea typeface="HGPｺﾞｼｯｸE" panose="020B0900000000000000" pitchFamily="50" charset="-128"/>
                <a:cs typeface="Sans Serif Collection" panose="020B0502040504020204" pitchFamily="34" charset="0"/>
              </a:rPr>
              <a:t>家づくりを全力でサポートいたします！</a:t>
            </a:r>
          </a:p>
        </p:txBody>
      </p:sp>
    </p:spTree>
    <p:extLst>
      <p:ext uri="{BB962C8B-B14F-4D97-AF65-F5344CB8AC3E}">
        <p14:creationId xmlns:p14="http://schemas.microsoft.com/office/powerpoint/2010/main" val="961754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2EEDD6A-755F-35F7-7DC1-F9245AD0B2C2}"/>
              </a:ext>
            </a:extLst>
          </p:cNvPr>
          <p:cNvSpPr/>
          <p:nvPr/>
        </p:nvSpPr>
        <p:spPr>
          <a:xfrm rot="5400000">
            <a:off x="1674192" y="4701540"/>
            <a:ext cx="9906000" cy="502920"/>
          </a:xfrm>
          <a:prstGeom prst="rect">
            <a:avLst/>
          </a:prstGeom>
          <a:solidFill>
            <a:srgbClr val="FFDFA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B4833D5D-0BBB-23B2-78DE-29C91F0A24A6}"/>
              </a:ext>
            </a:extLst>
          </p:cNvPr>
          <p:cNvSpPr txBox="1">
            <a:spLocks/>
          </p:cNvSpPr>
          <p:nvPr/>
        </p:nvSpPr>
        <p:spPr>
          <a:xfrm>
            <a:off x="2212474" y="681001"/>
            <a:ext cx="2639239" cy="5151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77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800" kern="0" spc="500" dirty="0">
                <a:latin typeface="HGPｺﾞｼｯｸE" panose="020B0900000000000000" pitchFamily="50" charset="-128"/>
                <a:ea typeface="HGPｺﾞｼｯｸE" panose="020B0900000000000000" pitchFamily="50" charset="-128"/>
                <a:cs typeface="Sans Serif Collection" panose="020B0502040504020204" pitchFamily="34" charset="0"/>
              </a:rPr>
              <a:t>ご紹介カード</a:t>
            </a: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7E6FF40A-9180-AD39-04EE-9F08067D09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8395552"/>
              </p:ext>
            </p:extLst>
          </p:nvPr>
        </p:nvGraphicFramePr>
        <p:xfrm>
          <a:off x="3568698" y="1499325"/>
          <a:ext cx="263923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9239">
                  <a:extLst>
                    <a:ext uri="{9D8B030D-6E8A-4147-A177-3AD203B41FA5}">
                      <a16:colId xmlns:a16="http://schemas.microsoft.com/office/drawing/2014/main" val="9047367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9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紹介日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366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900" b="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紹介者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0744172"/>
                  </a:ext>
                </a:extLst>
              </a:tr>
            </a:tbl>
          </a:graphicData>
        </a:graphic>
      </p:graphicFrame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9006F17-0ADC-BC13-FAF6-D8ED78401187}"/>
              </a:ext>
            </a:extLst>
          </p:cNvPr>
          <p:cNvSpPr/>
          <p:nvPr/>
        </p:nvSpPr>
        <p:spPr>
          <a:xfrm>
            <a:off x="0" y="0"/>
            <a:ext cx="6858000" cy="502920"/>
          </a:xfrm>
          <a:prstGeom prst="rect">
            <a:avLst/>
          </a:prstGeom>
          <a:solidFill>
            <a:srgbClr val="FFDFA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937FBD8-238B-5388-9182-AA97D492144A}"/>
              </a:ext>
            </a:extLst>
          </p:cNvPr>
          <p:cNvSpPr/>
          <p:nvPr/>
        </p:nvSpPr>
        <p:spPr>
          <a:xfrm>
            <a:off x="0" y="9403080"/>
            <a:ext cx="6858000" cy="502920"/>
          </a:xfrm>
          <a:prstGeom prst="rect">
            <a:avLst/>
          </a:prstGeom>
          <a:solidFill>
            <a:srgbClr val="FFDFA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81DCB61-5442-6248-0F0C-C8DEE02F1D5A}"/>
              </a:ext>
            </a:extLst>
          </p:cNvPr>
          <p:cNvSpPr/>
          <p:nvPr/>
        </p:nvSpPr>
        <p:spPr>
          <a:xfrm rot="5400000">
            <a:off x="-4722192" y="4701540"/>
            <a:ext cx="9906000" cy="502920"/>
          </a:xfrm>
          <a:prstGeom prst="rect">
            <a:avLst/>
          </a:prstGeom>
          <a:solidFill>
            <a:srgbClr val="FFDFA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12142477-AAC8-B9B3-E722-B2947100F5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8407368"/>
              </p:ext>
            </p:extLst>
          </p:nvPr>
        </p:nvGraphicFramePr>
        <p:xfrm>
          <a:off x="516300" y="2498957"/>
          <a:ext cx="5825400" cy="5820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0280">
                  <a:extLst>
                    <a:ext uri="{9D8B030D-6E8A-4147-A177-3AD203B41FA5}">
                      <a16:colId xmlns:a16="http://schemas.microsoft.com/office/drawing/2014/main" val="1772891459"/>
                    </a:ext>
                  </a:extLst>
                </a:gridCol>
                <a:gridCol w="1160872">
                  <a:extLst>
                    <a:ext uri="{9D8B030D-6E8A-4147-A177-3AD203B41FA5}">
                      <a16:colId xmlns:a16="http://schemas.microsoft.com/office/drawing/2014/main" val="2879156811"/>
                    </a:ext>
                  </a:extLst>
                </a:gridCol>
                <a:gridCol w="3494248">
                  <a:extLst>
                    <a:ext uri="{9D8B030D-6E8A-4147-A177-3AD203B41FA5}">
                      <a16:colId xmlns:a16="http://schemas.microsoft.com/office/drawing/2014/main" val="2589050928"/>
                    </a:ext>
                  </a:extLst>
                </a:gridCol>
              </a:tblGrid>
              <a:tr h="209212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600" b="1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フリガナ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500" b="1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5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4882373"/>
                  </a:ext>
                </a:extLst>
              </a:tr>
              <a:tr h="370652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800" b="1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氏名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800" b="1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8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283341"/>
                  </a:ext>
                </a:extLst>
              </a:tr>
              <a:tr h="370652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800" b="1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電話番号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800" b="1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8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273603"/>
                  </a:ext>
                </a:extLst>
              </a:tr>
              <a:tr h="370652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800" b="1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紹介者との続柄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800" b="1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8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6298696"/>
                  </a:ext>
                </a:extLst>
              </a:tr>
              <a:tr h="370652">
                <a:tc rowSpan="4"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現住所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800" b="1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郵便番号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8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3906260"/>
                  </a:ext>
                </a:extLst>
              </a:tr>
              <a:tr h="370652">
                <a:tc vMerge="1">
                  <a:txBody>
                    <a:bodyPr/>
                    <a:lstStyle/>
                    <a:p>
                      <a:pPr algn="l"/>
                      <a:endParaRPr kumimoji="1" lang="ja-JP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800" b="1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都道府県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8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419386"/>
                  </a:ext>
                </a:extLst>
              </a:tr>
              <a:tr h="370652">
                <a:tc vMerge="1">
                  <a:txBody>
                    <a:bodyPr/>
                    <a:lstStyle/>
                    <a:p>
                      <a:pPr algn="l"/>
                      <a:endParaRPr kumimoji="1" lang="ja-JP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800" b="1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市町村区・番地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8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427289"/>
                  </a:ext>
                </a:extLst>
              </a:tr>
              <a:tr h="421848">
                <a:tc vMerge="1">
                  <a:txBody>
                    <a:bodyPr/>
                    <a:lstStyle/>
                    <a:p>
                      <a:pPr algn="l"/>
                      <a:endParaRPr kumimoji="1" lang="ja-JP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800" b="1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建物名称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8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92679"/>
                  </a:ext>
                </a:extLst>
              </a:tr>
              <a:tr h="370652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土地取得済みｏｒ予定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8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847230"/>
                  </a:ext>
                </a:extLst>
              </a:tr>
              <a:tr h="370652">
                <a:tc rowSpan="4"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solidFill>
                            <a:schemeClr val="tx1"/>
                          </a:solidFill>
                        </a:rPr>
                        <a:t>建築地予定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800" b="1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郵便番号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8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5524730"/>
                  </a:ext>
                </a:extLst>
              </a:tr>
              <a:tr h="370652">
                <a:tc vMerge="1">
                  <a:txBody>
                    <a:bodyPr/>
                    <a:lstStyle/>
                    <a:p>
                      <a:pPr algn="l"/>
                      <a:endParaRPr kumimoji="1" lang="ja-JP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800" b="1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都道府県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8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079649"/>
                  </a:ext>
                </a:extLst>
              </a:tr>
              <a:tr h="370652">
                <a:tc vMerge="1">
                  <a:txBody>
                    <a:bodyPr/>
                    <a:lstStyle/>
                    <a:p>
                      <a:pPr algn="l"/>
                      <a:endParaRPr kumimoji="1" lang="ja-JP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800" b="1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市町村区・番地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8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261427"/>
                  </a:ext>
                </a:extLst>
              </a:tr>
              <a:tr h="370652">
                <a:tc vMerge="1">
                  <a:txBody>
                    <a:bodyPr/>
                    <a:lstStyle/>
                    <a:p>
                      <a:pPr algn="l"/>
                      <a:endParaRPr kumimoji="1" lang="ja-JP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800" b="1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建物名称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8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0814181"/>
                  </a:ext>
                </a:extLst>
              </a:tr>
              <a:tr h="370652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希望予算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8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991552"/>
                  </a:ext>
                </a:extLst>
              </a:tr>
              <a:tr h="370652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建築希望時期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8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888344"/>
                  </a:ext>
                </a:extLst>
              </a:tr>
              <a:tr h="370652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sz="800" b="1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進捗状況</a:t>
                      </a:r>
                      <a:br>
                        <a:rPr kumimoji="1" lang="en-US" altLang="ja-JP" sz="700" b="1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</a:br>
                      <a:r>
                        <a:rPr kumimoji="1" lang="en-US" altLang="ja-JP" sz="600" b="1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【</a:t>
                      </a:r>
                      <a:r>
                        <a:rPr kumimoji="1" lang="ja-JP" altLang="en-US" sz="600" b="1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これから・展示場見学済・競合先・契約済</a:t>
                      </a:r>
                      <a:r>
                        <a:rPr kumimoji="1" lang="en-US" altLang="ja-JP" sz="600" b="1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】</a:t>
                      </a:r>
                      <a:endParaRPr kumimoji="1" lang="ja-JP" altLang="en-US" sz="800" b="1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8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3485912"/>
                  </a:ext>
                </a:extLst>
              </a:tr>
            </a:tbl>
          </a:graphicData>
        </a:graphic>
      </p:graphicFrame>
      <p:graphicFrame>
        <p:nvGraphicFramePr>
          <p:cNvPr id="9" name="表 8">
            <a:extLst>
              <a:ext uri="{FF2B5EF4-FFF2-40B4-BE49-F238E27FC236}">
                <a16:creationId xmlns:a16="http://schemas.microsoft.com/office/drawing/2014/main" id="{1C7C58E0-A0A3-952D-E422-F99F15B38F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3830112"/>
              </p:ext>
            </p:extLst>
          </p:nvPr>
        </p:nvGraphicFramePr>
        <p:xfrm>
          <a:off x="4452064" y="8585200"/>
          <a:ext cx="18763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6380">
                  <a:extLst>
                    <a:ext uri="{9D8B030D-6E8A-4147-A177-3AD203B41FA5}">
                      <a16:colId xmlns:a16="http://schemas.microsoft.com/office/drawing/2014/main" val="9047367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8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申請日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366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800" b="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申請者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0744172"/>
                  </a:ext>
                </a:extLst>
              </a:tr>
            </a:tbl>
          </a:graphicData>
        </a:graphic>
      </p:graphicFrame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8F6CBE2-6655-49AB-13AC-D3170829140C}"/>
              </a:ext>
            </a:extLst>
          </p:cNvPr>
          <p:cNvSpPr txBox="1"/>
          <p:nvPr/>
        </p:nvSpPr>
        <p:spPr>
          <a:xfrm>
            <a:off x="4390050" y="8352175"/>
            <a:ext cx="2133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100" dirty="0"/>
              <a:t>▼当社記載事項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8B2A7DC-3C09-7F7E-23CA-C44187EAF83B}"/>
              </a:ext>
            </a:extLst>
          </p:cNvPr>
          <p:cNvSpPr txBox="1"/>
          <p:nvPr/>
        </p:nvSpPr>
        <p:spPr>
          <a:xfrm>
            <a:off x="442258" y="2244095"/>
            <a:ext cx="2133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100" dirty="0"/>
              <a:t>▼紹介された方の記載事項</a:t>
            </a:r>
          </a:p>
        </p:txBody>
      </p:sp>
    </p:spTree>
    <p:extLst>
      <p:ext uri="{BB962C8B-B14F-4D97-AF65-F5344CB8AC3E}">
        <p14:creationId xmlns:p14="http://schemas.microsoft.com/office/powerpoint/2010/main" val="4091428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2625</TotalTime>
  <Words>173</Words>
  <Application>Microsoft Office PowerPoint</Application>
  <PresentationFormat>A4 210 x 297 mm</PresentationFormat>
  <Paragraphs>41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8" baseType="lpstr">
      <vt:lpstr>BIZ UDPゴシック</vt:lpstr>
      <vt:lpstr>HGPｺﾞｼｯｸE</vt:lpstr>
      <vt:lpstr>Arial</vt:lpstr>
      <vt:lpstr>Calibri</vt:lpstr>
      <vt:lpstr>Calibri Light</vt:lpstr>
      <vt:lpstr>Office テーマ</vt:lpstr>
      <vt:lpstr>「アイ工務店」を 　　　　ご紹介ください！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牛尾 水咲</dc:creator>
  <cp:lastModifiedBy>牛尾 水咲</cp:lastModifiedBy>
  <cp:revision>14</cp:revision>
  <dcterms:created xsi:type="dcterms:W3CDTF">2025-03-04T03:06:48Z</dcterms:created>
  <dcterms:modified xsi:type="dcterms:W3CDTF">2025-04-28T08:27:38Z</dcterms:modified>
</cp:coreProperties>
</file>